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libri"/>
              </a:rPr>
              <a:t>Latency metrics, mean over W1–W4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GC pause (ms)</c:v>
                  </c:pt>
                  <c:pt idx="1">
                    <c:v>Reclaim latency (ms)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21.4</c:v>
                </c:pt>
                <c:pt idx="1">
                  <c:v>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HMS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GC pause (ms)</c:v>
                  </c:pt>
                  <c:pt idx="1">
                    <c:v>Reclaim latency (ms)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15.3</c:v>
                </c:pt>
                <c:pt idx="1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0"/>
        <c:axPos val="b"/>
        <c:majorGridlines>
          <c:spPr>
            <a:ln w="9525" cap="flat">
              <a:solidFill>
                <a:srgbClr val="E3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616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HMS = Heap Memory Safeguard, an OS-level cross-layer heap management framework for Android-class devices, published in ACM TECS.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Dual-heap architecture: ART sees the Java heap, native JNI allocations are invisible, kernel acts on pages. Motivation numbers from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empirical characterization isolates two root causes: a visibility gap and a temporal gap. Key evidence: &gt;3.4 GB of growth before any collector or reclaimer reacted.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cooperating layers: Runtime Observer (telemetry), Kernel Enforcer (targeted reclaim), MTE/memcg feedback. Bidirectional telemetry and control; deployable without app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 combines resident footprint (level) with allocation velocity (derivative). Footprint-only, rate-only, and PSI-only signals each fail in a specific way; the fused signal gives the best responsiveness/overhead trade-off (signal ablation in the paper).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Two-threshold design: theta1 marks instability (soft action), theta2 triggers kernel enforcement. The hysteresis band controls flapping; presets per RAM tier from the paper (Table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commercial devices, identical conditions, cold-reboot isolation, 10 repetitions with confidence intervals and significance testing. Five workloads spanning camera, gaming, inference, multitasking, plus a low-pressure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from Table 2: heap stability +38%, GC pause -28%, reclaim latency -22%, peak RSS -41%. Chart shows the two time-based metrics; improvements are significant and consistent across workloads and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 shows all three modules are needed. The decisive experiment isolates cross-layer coordination from mere aggressiveness: Static-Aggressive matches reclaim volume but loses on tail latency and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diagnosis, design, deployability, evidence. Reproducibility materials are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852160" cy="5852160"/>
          </a:xfrm>
          <a:prstGeom prst="ellipse">
            <a:avLst/>
          </a:prstGeom>
          <a:solidFill>
            <a:srgbClr val="1A4254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480560"/>
            <a:ext cx="3474720" cy="3474720"/>
          </a:xfrm>
          <a:prstGeom prst="ellipse">
            <a:avLst/>
          </a:prstGeom>
          <a:solidFill>
            <a:srgbClr val="153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96012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11622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Transactions on Embedded Computing Systems (TECS)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23317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 Memory Safeguard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77240" y="3456432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garbage collection and memory management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mobile and embedded devices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04672" y="4800600"/>
            <a:ext cx="3840480" cy="0"/>
          </a:xfrm>
          <a:prstGeom prst="line">
            <a:avLst/>
          </a:prstGeom>
          <a:noFill/>
          <a:ln w="12700">
            <a:solidFill>
              <a:srgbClr val="2A55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Geunsik Lim</a:t>
            </a:r>
            <a:pPr indent="0" marL="0">
              <a:buNone/>
            </a:pPr>
            <a:r>
              <a:rPr lang="en-US" sz="16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Article 0, 2026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5321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5522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github.com/leemgs/heap-memory-safeguard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two heaps, no shared view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Java heap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71907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ART with compacting, generational GC — well instrumented, but only half the story.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8529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native heap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libraries reached via JNI (media, graphics, on-device inference) allocate outside ART's accounting.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3342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Page-blind kernel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468172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reclaims page-by-page from fault addresses, with no notion of application-level heap intent.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latency spikes, forced background kills, and unpredictable behavior under load.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5166360" cy="1389888"/>
          </a:xfrm>
          <a:prstGeom prst="roundRect">
            <a:avLst>
              <a:gd name="adj" fmla="val 5921"/>
            </a:avLst>
          </a:prstGeom>
          <a:solidFill>
            <a:srgbClr val="FBF1EC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490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 MB → 1.4 GB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12280" y="2075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heap growth in under 45 seconds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898648"/>
            <a:ext cx="5166360" cy="1389888"/>
          </a:xfrm>
          <a:prstGeom prst="roundRect">
            <a:avLst>
              <a:gd name="adj" fmla="val 5921"/>
            </a:avLst>
          </a:prstGeom>
          <a:solidFill>
            <a:srgbClr val="FB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MB, flat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812280" y="36484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heap reported by ART — unchanged the whole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471416"/>
            <a:ext cx="5166360" cy="1389888"/>
          </a:xfrm>
          <a:prstGeom prst="roundRect">
            <a:avLst>
              <a:gd name="adj" fmla="val 5921"/>
            </a:avLst>
          </a:prstGeom>
          <a:solidFill>
            <a:srgbClr val="FB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46360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+226%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812280" y="52212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memory seen by the kernel (memcg) meanwhile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6035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commercial smartphone (8 GB LPDDR5X, Linux 6.6) under a mixed camera + inference + UI workload.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cause: two structural gaps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EFF6F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" y="18105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1995952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01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gap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5840" y="278892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is unaware of native heap growth until a physical page fault forces a reaction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accounting alone cannot assess the real heap load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6792" y="141732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EFF6F8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8105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280" y="1995952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672" y="1901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gap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839712" y="278892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fires on generation thresholds; kernel reclaim fires on page-level pressure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reactive and act at different moments — intervention arrives after pressure has built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02920" y="54864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10303F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 had already grown by more than 3.4 GB before any GC or reclaim fired.  </a:t>
            </a:r>
            <a:pPr indent="0" marL="0">
              <a:buNone/>
            </a:pPr>
            <a:r>
              <a:rPr lang="en-US" sz="15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Stalls come from these gaps — not from raw memory scarcity alone.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HMS: one coordinated control loop across three layers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FF6F8"/>
          </a:solidFill>
          <a:ln/>
        </p:spPr>
      </p:sp>
      <p:pic>
        <p:nvPicPr>
          <p:cNvPr id="4" name="Image 0" descr="/work/github-leemgs/heap-memory-safeguard/paper/fig1_hm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72768"/>
            <a:ext cx="4663440" cy="3538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5257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of HMS on Android (paper, Fig. 1)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63640" y="1472184"/>
            <a:ext cx="603504" cy="60350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51" y="1629095"/>
            <a:ext cx="289682" cy="28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59168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Observer  ·  user space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059168" y="175564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per-process heap telemetry from ART and native allocators; computes the utilization index continuously.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63640" y="2862072"/>
            <a:ext cx="603504" cy="60350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551" y="3018983"/>
            <a:ext cx="289682" cy="289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59168" y="2807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Enforcer  ·  kernel space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059168" y="314553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targeted, bounded reclamation through memcg when the runtime signal crosses the enforcement threshold.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63640" y="4251960"/>
            <a:ext cx="603504" cy="60350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551" y="4408871"/>
            <a:ext cx="289682" cy="2896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59168" y="41970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 / memcg feedback  ·  hardware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059168" y="453542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Memory-tagging and cgroup counters feed page-level pressure back into the runtime's decision loop.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263640" y="548640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EFF6F8"/>
          </a:solidFill>
          <a:ln/>
        </p:spPr>
      </p:sp>
      <p:sp>
        <p:nvSpPr>
          <p:cNvPr id="19" name="Text 13"/>
          <p:cNvSpPr/>
          <p:nvPr/>
        </p:nvSpPr>
        <p:spPr>
          <a:xfrm>
            <a:off x="6537960" y="555955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changes.  </a:t>
            </a:r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standard ART, memcg, and hardware-tagging interfaces.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idea: fuse occupancy with allocation velocity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2103120" y="1371600"/>
            <a:ext cx="7982712" cy="1554480"/>
          </a:xfrm>
          <a:prstGeom prst="roundRect">
            <a:avLst>
              <a:gd name="adj" fmla="val 5882"/>
            </a:avLst>
          </a:prstGeom>
          <a:solidFill>
            <a:srgbClr val="10303F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1481328"/>
            <a:ext cx="7982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pPr algn="ctr" indent="0" marL="0">
              <a:buNone/>
            </a:pPr>
            <a:r>
              <a:rPr lang="en-US" sz="3000" b="1" i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R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rss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α · A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A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2304288"/>
            <a:ext cx="7982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(level)                      velocity (derivative)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3602736" cy="1737360"/>
          </a:xfrm>
          <a:prstGeom prst="roundRect">
            <a:avLst>
              <a:gd name="adj" fmla="val 4737"/>
            </a:avLst>
          </a:prstGeom>
          <a:solidFill>
            <a:srgbClr val="FBF1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56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Footprint-only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reactive — fires once occupancy is already high, reproducing the temporal gap.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3291840"/>
            <a:ext cx="3602736" cy="1737360"/>
          </a:xfrm>
          <a:prstGeom prst="roundRect">
            <a:avLst>
              <a:gd name="adj" fmla="val 4737"/>
            </a:avLst>
          </a:prstGeom>
          <a:solidFill>
            <a:srgbClr val="FBF1E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456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Rate-only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every burst regardless of headroom — over-reclaims and inflates mispredictions.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3291840"/>
            <a:ext cx="3602736" cy="1737360"/>
          </a:xfrm>
          <a:prstGeom prst="roundRect">
            <a:avLst>
              <a:gd name="adj" fmla="val 4737"/>
            </a:avLst>
          </a:prstGeom>
          <a:solidFill>
            <a:srgbClr val="FB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456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PSI-only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6676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pressure stalls lag the heap behavior that causes them — action arrives late on all metrics.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5349240"/>
            <a:ext cx="11192256" cy="91440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separates transient bursts from sustained growth</a:t>
            </a:r>
            <a:pPr indent="0" marL="0">
              <a:buNone/>
            </a:pPr>
            <a:r>
              <a:rPr lang="en-US" sz="14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HMS triggers targeted reclamation before pressure escalates, instead of uniformly reclaiming more aggressively.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signal to action: thresholds with hysteresis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399032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1546433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280160" y="169164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Observer keeps Hu updated per process from runtime and kernel telemetry.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606040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" y="275344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7860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θ1 — instability threshold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280160" y="2898648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θ1 marks a process unstable: HMS nudges the runtime (GC hint) and prepares reclaim.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813048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3960449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7856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θ2 — enforcement threshold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280160" y="410565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θ2 triggers the Kernel Enforcer: bounded, targeted memcg reclamation of the offending process.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5020056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1" y="5167457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9926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band θ2 − θ1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280160" y="5312664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band suppresses false positives (flapping) at the cost of slightly later action — the tuning knob.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63524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presets by device class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87452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50392"/>
                <a:gridCol w="850392"/>
                <a:gridCol w="8595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7635240" y="3566160"/>
            <a:ext cx="4023360" cy="2286000"/>
          </a:xfrm>
          <a:prstGeom prst="roundRect">
            <a:avLst>
              <a:gd name="adj" fmla="val 3600"/>
            </a:avLst>
          </a:prstGeom>
          <a:solidFill>
            <a:srgbClr val="EFF6F8"/>
          </a:solidFill>
          <a:ln/>
        </p:spPr>
      </p:sp>
      <p:sp>
        <p:nvSpPr>
          <p:cNvPr id="22" name="Text 15"/>
          <p:cNvSpPr/>
          <p:nvPr/>
        </p:nvSpPr>
        <p:spPr>
          <a:xfrm>
            <a:off x="7909560" y="37490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α on roomier devices
</a:t>
            </a:r>
            <a:pPr indent="0" marL="0">
              <a:buNone/>
            </a:pPr>
            <a:r>
              <a:rPr lang="en-US" sz="13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12 GB, velocity can be weighted more heavily: foreground latency stays stable while background growth is caught earlier.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on two commercial smartphones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10303F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627632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1770278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· Pro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63040" y="19385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G4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LPDDR5X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069080" y="137160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10303F"/>
          </a:solidFill>
          <a:ln/>
        </p:spPr>
      </p:sp>
      <p:sp>
        <p:nvSpPr>
          <p:cNvPr id="9" name="Shape 6"/>
          <p:cNvSpPr/>
          <p:nvPr/>
        </p:nvSpPr>
        <p:spPr>
          <a:xfrm>
            <a:off x="4325112" y="1627632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58" y="177027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· Ultra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029200" y="19385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Gen mobile SoC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GB LPDDR5X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35240" y="1371600"/>
            <a:ext cx="4050792" cy="1600200"/>
          </a:xfrm>
          <a:prstGeom prst="roundRect">
            <a:avLst>
              <a:gd name="adj" fmla="val 5143"/>
            </a:avLst>
          </a:prstGeom>
          <a:solidFill>
            <a:srgbClr val="EF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7882128" y="1627632"/>
            <a:ext cx="548640" cy="548640"/>
          </a:xfrm>
          <a:prstGeom prst="ellipse">
            <a:avLst/>
          </a:prstGeom>
          <a:solidFill>
            <a:srgbClr val="0B647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774" y="1770278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method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595360" y="19202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API 35 · Linux 6.6.14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ART 12 + memcg + zRAM 2.0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· 95% CI · t-test (p &lt; 0.05)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(W1–W4 memory-intensive; W5 low-pressure control)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589520" y="329184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perfetto · heapprofd · kernel PSI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3749040"/>
            <a:ext cx="457200" cy="457200"/>
          </a:xfrm>
          <a:prstGeom prst="ellipse">
            <a:avLst/>
          </a:prstGeom>
          <a:solidFill>
            <a:srgbClr val="EFF6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679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7307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· Hybrid camera pipeline   </a:t>
            </a:r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HDR fusion + AI segmentation (JNI, TensorFlow Lite)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02920" y="4279392"/>
            <a:ext cx="457200" cy="457200"/>
          </a:xfrm>
          <a:prstGeom prst="ellipse">
            <a:avLst/>
          </a:prstGeom>
          <a:solidFill>
            <a:srgbClr val="EFF6F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39826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43000" y="42611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· Gaming   </a:t>
            </a:r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mobile demo with smooth scene streaming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02920" y="4809744"/>
            <a:ext cx="457200" cy="457200"/>
          </a:xfrm>
          <a:prstGeom prst="ellipse">
            <a:avLst/>
          </a:prstGeom>
          <a:solidFill>
            <a:srgbClr val="EFF6F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92861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4791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On-device AI inference   </a:t>
            </a:r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execution via NNAPI (Gemma 2B)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502920" y="5340096"/>
            <a:ext cx="457200" cy="457200"/>
          </a:xfrm>
          <a:prstGeom prst="ellipse">
            <a:avLst/>
          </a:prstGeom>
          <a:solidFill>
            <a:srgbClr val="EFF6F8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458968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3000" y="53218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Multitasking   </a:t>
            </a:r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apps switching simultaneously (ActivityManagerStress)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502920" y="5870448"/>
            <a:ext cx="457200" cy="457200"/>
          </a:xfrm>
          <a:prstGeom prst="ellipse">
            <a:avLst/>
          </a:prstGeom>
          <a:solidFill>
            <a:srgbClr val="EFF6F8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989320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14300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 · Ordinary use (control)   </a:t>
            </a:r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scrolling &amp; browsing — checks HMS stays quiet off-pressure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better stability, shorter pauses, smaller footprint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EFF6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179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stability (Sh)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→ 0.93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EFF6F8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5179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pause (Tgc)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 ms → 15.3 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EF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179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latency (Lr)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ms → 118 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137160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EF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15179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−41%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3544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354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 → 302 MB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02920" y="3429000"/>
          <a:ext cx="67665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635240" y="3429000"/>
            <a:ext cx="4050792" cy="2971800"/>
          </a:xfrm>
          <a:prstGeom prst="roundRect">
            <a:avLst>
              <a:gd name="adj" fmla="val 2769"/>
            </a:avLst>
          </a:prstGeom>
          <a:solidFill>
            <a:srgbClr val="10303F"/>
          </a:solidFill>
          <a:ln/>
        </p:spPr>
      </p:sp>
      <p:sp>
        <p:nvSpPr>
          <p:cNvPr id="21" name="Text 18"/>
          <p:cNvSpPr/>
          <p:nvPr/>
        </p:nvSpPr>
        <p:spPr>
          <a:xfrm>
            <a:off x="7955280" y="361188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four workloads
</a:t>
            </a:r>
            <a:pPr indent="0" marL="0">
              <a:buNone/>
            </a:pPr>
            <a:r>
              <a:rPr lang="en-US" sz="13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Gains hold on both the 8 GB and 12 GB devices, with statistical significance (p &lt; 0.05).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low-pressure control (W5), HMS stays quiet — no added latency for ordinary use.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works: every layer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— disable one module, measure the damage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035040" cy="1170432"/>
          </a:xfrm>
          <a:prstGeom prst="roundRect">
            <a:avLst>
              <a:gd name="adj" fmla="val 7031"/>
            </a:avLst>
          </a:prstGeom>
          <a:solidFill>
            <a:srgbClr val="FBF1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0253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0" y="19476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stability
</a:t>
            </a:r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kernel-side configurator (enforcement path)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3118104"/>
            <a:ext cx="6035040" cy="1170432"/>
          </a:xfrm>
          <a:prstGeom prst="roundRect">
            <a:avLst>
              <a:gd name="adj" fmla="val 7031"/>
            </a:avLst>
          </a:prstGeom>
          <a:solidFill>
            <a:srgbClr val="FBF1E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328269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
</a:t>
            </a:r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memory-tagging feedback from hardware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4453128"/>
            <a:ext cx="6035040" cy="1170432"/>
          </a:xfrm>
          <a:prstGeom prst="roundRect">
            <a:avLst>
              <a:gd name="adj" fmla="val 7031"/>
            </a:avLst>
          </a:prstGeom>
          <a:solidFill>
            <a:srgbClr val="FBF1E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7258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4617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pause time
</a:t>
            </a:r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adaptive (workload-aware) policy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903720" y="1783080"/>
            <a:ext cx="4782312" cy="4005072"/>
          </a:xfrm>
          <a:prstGeom prst="roundRect">
            <a:avLst>
              <a:gd name="adj" fmla="val 2283"/>
            </a:avLst>
          </a:prstGeom>
          <a:solidFill>
            <a:srgbClr val="10303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42048" y="2103120"/>
            <a:ext cx="603504" cy="60350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8959" y="2260031"/>
            <a:ext cx="289682" cy="28968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0100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not aggressiveness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269480" y="292608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Static-Aggressive baseline reclaims just as much memory — earlier and harder.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still wins on tail latency (p99 frame time) and major faults at the same or lower reclaim volume.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benefit comes from when and where reclamation happens — the cross-layer loop — not from reclaiming more.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Safeguard (HMS)  ·  ACM TECS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480560"/>
            <a:ext cx="4754880" cy="4754880"/>
          </a:xfrm>
          <a:prstGeom prst="ellipse">
            <a:avLst/>
          </a:prstGeom>
          <a:solidFill>
            <a:srgbClr val="153A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969264"/>
          </a:xfrm>
          <a:prstGeom prst="roundRect">
            <a:avLst>
              <a:gd name="adj" fmla="val 7547"/>
            </a:avLst>
          </a:prstGeom>
          <a:solidFill>
            <a:srgbClr val="1A425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184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54680" y="160020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memory stalls trace to a visibility gap and a temporal gap between the runtime and the kernel — not to scarcity alone.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10607040" cy="969264"/>
          </a:xfrm>
          <a:prstGeom prst="roundRect">
            <a:avLst>
              <a:gd name="adj" fmla="val 7547"/>
            </a:avLst>
          </a:prstGeom>
          <a:solidFill>
            <a:srgbClr val="1A425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157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54680" y="269748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fused signal (Hu = occupancy + α·velocity) drives a single coordinated control loop across runtime, kernel, and hardware.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0607040" cy="969264"/>
          </a:xfrm>
          <a:prstGeom prst="roundRect">
            <a:avLst>
              <a:gd name="adj" fmla="val 7547"/>
            </a:avLst>
          </a:prstGeom>
          <a:solidFill>
            <a:srgbClr val="1A425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130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54680" y="379476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changes; standard ART, memcg, and MTE interfaces — applies broadly to Linux-based mobile and embedded platforms.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800600"/>
            <a:ext cx="10607040" cy="969264"/>
          </a:xfrm>
          <a:prstGeom prst="roundRect">
            <a:avLst>
              <a:gd name="adj" fmla="val 7547"/>
            </a:avLst>
          </a:prstGeom>
          <a:solidFill>
            <a:srgbClr val="1A42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910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54680" y="489204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 heap stability, −28% GC pause, −22% reclaim latency, −41% peak RSS on two commercial devices, attributed to coordination itself.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richer predictors beyond first-order occupancy · broader SoC and memory-tier coverage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382512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5568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Artifacts, traces &amp; scripts: github.com/leemgs/heap-memory-safeguard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2026-07-17T09:48:48Z</dcterms:created>
  <dcterms:modified xsi:type="dcterms:W3CDTF">2026-07-17T09:48:48Z</dcterms:modified>
</cp:coreProperties>
</file>