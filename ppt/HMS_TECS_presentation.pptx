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Noto Sans CJK KR"/>
              </a:rPr>
              <a:t>Heap Memory Safeguard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057400"/>
            <a:ext cx="9875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B7A8"/>
                </a:solidFill>
                <a:latin typeface="Noto Sans CJK KR"/>
              </a:rPr>
              <a:t>Android cross-layer memory coordination을 위한
simulation-backed design proposal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703320"/>
            <a:ext cx="4846320" cy="10972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968496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7F9FC"/>
                </a:solidFill>
                <a:latin typeface="Noto Sans CJK KR"/>
              </a:rPr>
              <a:t>Geunsik Lim  ·  Sungkyunkwan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36168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Noto Sans CJK KR"/>
              </a:rPr>
              <a:t>leemgs@g.skku.edu  ·  Corresponding 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Noto Sans CJK KR"/>
              </a:rPr>
              <a:t>ACM TECS manuscript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오늘의 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8CC"/>
                </a:solidFill>
                <a:latin typeface="Noto Sans CJK KR"/>
              </a:rPr>
              <a:t>주장 범위와 증거 범위를 일치시킨 개정본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828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ART managed heap과 native heap, Linux page pressure가 서로 다른 관측 단위를 사용한다.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2704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아이디어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8424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RSS occupancy와 online net-growth를 결합해 bounded memcg reclaim 요청을 만든다.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828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2704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현재 증거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8424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Deterministic simulation으로 controller trade-off를 검증한다. 실제 Android 성능은 주장하지 않는다.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27080" cy="150876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6849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B7A8"/>
                </a:solidFill>
                <a:latin typeface="Noto Sans CJK KR"/>
              </a:rPr>
              <a:t>정직한 결론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86200"/>
            <a:ext cx="8321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7F9FC"/>
                </a:solidFill>
                <a:latin typeface="Noto Sans CJK KR"/>
              </a:rPr>
              <a:t>HMS는 배포 완료 시스템이 아니라, AOSP/kernel 구현과 device study를 위한 감사 가능한 설계 기반이다.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문제: 세 개의 서로 다른 관측 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063240" cy="306324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306324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2704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25603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Managed object
GC phase / pause
Native ownership은 불완전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325880"/>
            <a:ext cx="3063240" cy="306324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53712" y="1325880"/>
            <a:ext cx="73152" cy="306324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52704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Native allocator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984248"/>
            <a:ext cx="25603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malloc/free
allocator cache
mapping / reuse / lifetime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325880"/>
            <a:ext cx="3063240" cy="306324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325880"/>
            <a:ext cx="73152" cy="306324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52704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Linux kernel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984248"/>
            <a:ext cx="25603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RSS / memcg charge
PSI stall
page reclaim / refault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2834640"/>
            <a:ext cx="758952" cy="0"/>
          </a:xfrm>
          <a:prstGeom prst="line">
            <a:avLst/>
          </a:prstGeom>
          <a:ln w="25400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16952" y="2834640"/>
            <a:ext cx="749808" cy="0"/>
          </a:xfrm>
          <a:prstGeom prst="line">
            <a:avLst/>
          </a:prstGeom>
          <a:ln w="25400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65960" y="4800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6A649"/>
                </a:solidFill>
                <a:latin typeface="Noto Sans CJK KR"/>
              </a:rPr>
              <a:t>Visibility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800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6CADC"/>
                </a:solidFill>
                <a:latin typeface="Noto Sans CJK KR"/>
              </a:rPr>
              <a:t>Temporal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6235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9B8CC"/>
                </a:solidFill>
                <a:latin typeface="Noto Sans CJK KR"/>
              </a:rPr>
              <a:t>※ native allocation ≠ page fault ≠ RSS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기존 Android/Linux 메커니즘을 대체하지 않는다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LMKD + PSI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29260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pressure와 importance 기반 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429000" cy="150876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25880"/>
            <a:ext cx="73152" cy="150876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2704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memory.reclaim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84248"/>
            <a:ext cx="29260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cgroup-scoped proactive reclaim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25880"/>
            <a:ext cx="3429000" cy="150876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325880"/>
            <a:ext cx="73152" cy="150876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52704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DAMON/DAMOS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984248"/>
            <a:ext cx="29260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cold-region monitoring +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39"/>
            <a:ext cx="3429000" cy="150876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91839"/>
            <a:ext cx="73152" cy="150876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9300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MGLRU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50207"/>
            <a:ext cx="29260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working-set / thrashing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291839"/>
            <a:ext cx="3429000" cy="150876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291839"/>
            <a:ext cx="73152" cy="150876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49300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CachedAppOptimizer / mmd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950207"/>
            <a:ext cx="29260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compaction, zRAM writeback/prefetch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291839"/>
            <a:ext cx="3429000" cy="150876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291839"/>
            <a:ext cx="73152" cy="150876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49300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heapprofd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950207"/>
            <a:ext cx="292608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sampled allocation 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7F9FC"/>
                </a:solidFill>
                <a:latin typeface="Noto Sans CJK KR"/>
              </a:rPr>
              <a:t>HMS의 질문: “기존 actuator를 언제, 누구에게, 얼마나 요청할 것인가?”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제안 아키텍처와 artifact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017520" cy="237744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237744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Observer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2514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managed activity
sampled native activity
RSS / memcg / PSI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3017520" cy="237744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73152" cy="237744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7276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HMS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29967"/>
            <a:ext cx="2514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online normalization
θ₁ / θ₂ hysteresis
budget + cooldown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371600"/>
            <a:ext cx="3017520" cy="237744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1371600"/>
            <a:ext cx="73152" cy="237744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57276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Existing actuator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029967"/>
            <a:ext cx="2514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memory.reclaim
DAMON/MGLRU 후보
refault feedback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03320" y="2560320"/>
            <a:ext cx="868680" cy="0"/>
          </a:xfrm>
          <a:prstGeom prst="line">
            <a:avLst/>
          </a:prstGeom>
          <a:ln w="25400">
            <a:solidFill>
              <a:srgbClr val="1DB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2560320"/>
            <a:ext cx="868680" cy="0"/>
          </a:xfrm>
          <a:prstGeom prst="line">
            <a:avLst/>
          </a:prstGeom>
          <a:ln w="25400">
            <a:solidFill>
              <a:srgbClr val="F6A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4389120"/>
            <a:ext cx="10789920" cy="9601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5B60"/>
                </a:solidFill>
                <a:latin typeface="Noto Sans CJK KR"/>
              </a:rPr>
              <a:t>현재 repo: Python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64515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7F9FC"/>
                </a:solidFill>
                <a:latin typeface="Noto Sans CJK KR"/>
              </a:rPr>
              <a:t>미포함: system_server · ART hook · kernel patch · SELinux · device trace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Controller state: heuristic score와 해석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766560" cy="13716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82496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7F9FC"/>
                </a:solidFill>
                <a:latin typeface="Noto Sans CJK KR"/>
              </a:rPr>
              <a:t>Hᵢ(t) = Rᵢ(t)/Lᵢ(t) + α · ĝᵢ(t)/Gᵢ(t)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31546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73152" cy="141732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64408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R / 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현재 resident occupancy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3063240"/>
            <a:ext cx="31546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063240"/>
            <a:ext cx="73152" cy="141732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264408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721608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smoothed net resident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063240"/>
            <a:ext cx="31546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3063240"/>
            <a:ext cx="73152" cy="141732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3264408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721608"/>
            <a:ext cx="2651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trailing p95 online scale
미래 sample 사용 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325880"/>
            <a:ext cx="3383280" cy="13716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600200"/>
            <a:ext cx="2834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5B60"/>
                </a:solidFill>
                <a:latin typeface="Noto Sans CJK KR"/>
              </a:rPr>
              <a:t>α는 prediction horizon이 아니라
무차원 weight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1208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9B8CC"/>
                </a:solidFill>
                <a:latin typeface="Noto Sans CJK KR"/>
              </a:rPr>
              <a:t>향후 대안: T_pressure = headroom / max(net growth, 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Bounded control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5544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Noto Sans CJK KR"/>
              </a:rPr>
              <a:t>Observe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21408" y="2542032"/>
            <a:ext cx="347472" cy="0"/>
          </a:xfrm>
          <a:prstGeom prst="line">
            <a:avLst/>
          </a:prstGeom>
          <a:ln w="25400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80" y="1828800"/>
            <a:ext cx="15544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95728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Noto Sans CJK KR"/>
              </a:rPr>
              <a:t>Normalize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2542032"/>
            <a:ext cx="347472" cy="0"/>
          </a:xfrm>
          <a:prstGeom prst="line">
            <a:avLst/>
          </a:prstGeom>
          <a:ln w="25400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70832" y="1828800"/>
            <a:ext cx="15544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95728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Noto Sans CJK KR"/>
              </a:rPr>
              <a:t>θ₁ watch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25312" y="2542032"/>
            <a:ext cx="347472" cy="0"/>
          </a:xfrm>
          <a:prstGeom prst="line">
            <a:avLst/>
          </a:prstGeom>
          <a:ln w="25400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72784" y="1828800"/>
            <a:ext cx="15544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5B60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95728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Noto Sans CJK KR"/>
              </a:rPr>
              <a:t>θ₂ request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7264" y="2542032"/>
            <a:ext cx="347472" cy="0"/>
          </a:xfrm>
          <a:prstGeom prst="line">
            <a:avLst/>
          </a:prstGeom>
          <a:ln w="25400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74736" y="1828800"/>
            <a:ext cx="15544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2395728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Noto Sans CJK KR"/>
              </a:rPr>
              <a:t>Budgeted reclaim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29215" y="2542032"/>
            <a:ext cx="347473" cy="0"/>
          </a:xfrm>
          <a:prstGeom prst="line">
            <a:avLst/>
          </a:prstGeom>
          <a:ln w="25400">
            <a:solidFill>
              <a:srgbClr val="A9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76688" y="1828800"/>
            <a:ext cx="1554480" cy="141732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3848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7" y="2395728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Noto Sans CJK KR"/>
              </a:rPr>
              <a:t>Cooldown /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8620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per-cgroup / global budget로 cycle당 work 상한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GC-active 및 render-deadline window에서는 reclaim 지연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foreground class 우선 + class 내부 deficit round-robin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process exit / cgroup identity 재검증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재현 가능한 simulation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200400" cy="32004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320040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2697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W1 camera-like bursts
W2 game streaming
W3 inference tensors
W4 app switching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80160"/>
            <a:ext cx="3200400" cy="32004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280160"/>
            <a:ext cx="73152" cy="320040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Determinism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38528"/>
            <a:ext cx="2697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seeded telemetry
independent noise streams
workload별 controller reset
동일 trace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280160"/>
            <a:ext cx="3200400" cy="32004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280160"/>
            <a:ext cx="73152" cy="320040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938528"/>
            <a:ext cx="2697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summary.csv
parameter sweeps
PNG figures
configuration + seed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029200"/>
            <a:ext cx="9692640" cy="685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23036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7F9FC"/>
                </a:solidFill>
                <a:latin typeface="Noto Sans CJK KR"/>
              </a:rPr>
              <a:t>python scripts/run_experiments.py --seed 7 --outdir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Simulation 결과: ‘모두 개선’이 아닌 mixed trade-off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828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190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9B8CC"/>
                </a:solidFill>
                <a:latin typeface="Noto Sans CJK KR"/>
              </a:rPr>
              <a:t>Reclaim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6771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DB7A8"/>
                </a:solidFill>
                <a:latin typeface="Noto Sans CJK KR"/>
              </a:rPr>
              <a:t>30–32%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417320"/>
            <a:ext cx="2514600" cy="1828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7190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9B8CC"/>
                </a:solidFill>
                <a:latin typeface="Noto Sans CJK KR"/>
              </a:rPr>
              <a:t>GC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26771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46CADC"/>
                </a:solidFill>
                <a:latin typeface="Noto Sans CJK KR"/>
              </a:rPr>
              <a:t>22–23%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17320"/>
            <a:ext cx="2514600" cy="1828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190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9B8CC"/>
                </a:solidFill>
                <a:latin typeface="Noto Sans CJK KR"/>
              </a:rPr>
              <a:t>Peak RSS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6771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6A649"/>
                </a:solidFill>
                <a:latin typeface="Noto Sans CJK KR"/>
              </a:rPr>
              <a:t>3–11% 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3" y="1417320"/>
            <a:ext cx="2514600" cy="182880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3" y="17190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9B8CC"/>
                </a:solidFill>
                <a:latin typeface="Noto Sans CJK KR"/>
              </a:rPr>
              <a:t>Heap stability Sₕ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3" y="226771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65B60"/>
                </a:solidFill>
                <a:latin typeface="Noto Sans CJK KR"/>
              </a:rPr>
              <a:t>1–8%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bounded intervention이 footprint variation을 추가할 수 있음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peak와 variability를 함께 보고해야 함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단일 seed의 synthetic output은 device performance 근거가 아님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Noto Sans CJK KR"/>
              </a:defRPr>
            </a:pPr>
            <a:r>
              <a:t>• 현재 결과의 역할: controller sanity check + 반증 가능한 trade-off 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리뷰 피드백 반영: 무엇이 바뀌었나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7830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78308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신뢰성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8"/>
            <a:ext cx="29718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실측/배포 주장 제거
simulation scope 명시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474720" cy="17830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78308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43560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인용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92808"/>
            <a:ext cx="29718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CXL·flash GC·PIM 오인용 제거
공식 Android/Linux 자료로 교체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474720" cy="17830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73152" cy="178308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3560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수식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92808"/>
            <a:ext cx="29718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Amax leakage 제거
online trailing p95 적용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3474720" cy="17830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73152" cy="1783080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B7A8"/>
                </a:solidFill>
                <a:latin typeface="Noto Sans CJK KR"/>
              </a:rP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8"/>
            <a:ext cx="29718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Sₕ 정의를 코드와 통일
peak RSS 병기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474720" cy="17830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474720"/>
            <a:ext cx="73152" cy="1783080"/>
          </a:xfrm>
          <a:prstGeom prst="rect">
            <a:avLst/>
          </a:prstGeom>
          <a:solidFill>
            <a:srgbClr val="46CADC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67588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ADC"/>
                </a:solidFill>
                <a:latin typeface="Noto Sans CJK KR"/>
              </a:rPr>
              <a:t>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133088"/>
            <a:ext cx="29718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결과를 Evaluation으로 이동
case study → validation 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74720"/>
            <a:ext cx="3474720" cy="17830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0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474720"/>
            <a:ext cx="73152" cy="1783080"/>
          </a:xfrm>
          <a:prstGeom prst="rect">
            <a:avLst/>
          </a:prstGeom>
          <a:solidFill>
            <a:srgbClr val="F6A649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67588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A649"/>
                </a:solidFill>
                <a:latin typeface="Noto Sans CJK KR"/>
              </a:rPr>
              <a:t>재현성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133088"/>
            <a:ext cx="29718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9FC"/>
                </a:solidFill>
                <a:latin typeface="Noto Sans CJK KR"/>
              </a:rPr>
              <a:t>raw schema·baseline·통계·장기시험 요구사항 명시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출판 가능한 device study로 가는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31546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B7A8"/>
                </a:solidFill>
                <a:latin typeface="Noto Sans CJK K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2763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7F9FC"/>
                </a:solidFill>
                <a:latin typeface="Noto Sans CJK KR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2011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9B8CC"/>
                </a:solidFill>
                <a:latin typeface="Noto Sans CJK KR"/>
              </a:rPr>
              <a:t>AOSP/ART/kernel patch
SELinux + build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417320"/>
            <a:ext cx="2514600" cy="31546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46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1645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6CADC"/>
                </a:solidFill>
                <a:latin typeface="Noto Sans CJK KR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7F9FC"/>
                </a:solidFill>
                <a:latin typeface="Noto Sans CJK KR"/>
              </a:rPr>
              <a:t>Baselines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31720"/>
            <a:ext cx="2011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9B8CC"/>
                </a:solidFill>
                <a:latin typeface="Noto Sans CJK KR"/>
              </a:rPr>
              <a:t>LMKD/PSI · memory.reclaim
DAMON · MGLRU · ablations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417320"/>
            <a:ext cx="2514600" cy="31546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F6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645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6A649"/>
                </a:solidFill>
                <a:latin typeface="Noto Sans CJK KR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162763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7F9FC"/>
                </a:solidFill>
                <a:latin typeface="Noto Sans CJK KR"/>
              </a:rPr>
              <a:t>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31720"/>
            <a:ext cx="2011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9B8CC"/>
                </a:solidFill>
                <a:latin typeface="Noto Sans CJK KR"/>
              </a:rPr>
              <a:t>4 memory tiers
2+ SoC vendors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3" y="1417320"/>
            <a:ext cx="2514600" cy="31546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E6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3" y="1645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65B60"/>
                </a:solidFill>
                <a:latin typeface="Noto Sans CJK KR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3224" y="162763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7F9FC"/>
                </a:solidFill>
                <a:latin typeface="Noto Sans CJK KR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5" y="2331720"/>
            <a:ext cx="2011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9B8CC"/>
                </a:solidFill>
                <a:latin typeface="Noto Sans CJK KR"/>
              </a:rPr>
              <a:t>raw Perfetto + per-run rows
bootstrap/Wilcoxon + effect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7F9FC"/>
                </a:solidFill>
                <a:latin typeface="Noto Sans CJK KR"/>
              </a:rPr>
              <a:t>추가 필수: 6–24h stability · energy/thermal · refault · correctness · fairness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B7A8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CC"/>
                </a:solidFill>
                <a:latin typeface="Noto Sans CJK KR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7F9FC"/>
                </a:solidFill>
                <a:latin typeface="Noto Sans CJK KR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B7A8"/>
                </a:solidFill>
                <a:latin typeface="Noto Sans CJK KR"/>
              </a:rPr>
              <a:t>HMS의 현재 기여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7F9FC"/>
                </a:solidFill>
                <a:latin typeface="Noto Sans CJK KR"/>
              </a:defRPr>
            </a:pPr>
            <a:r>
              <a:t>• managed/native/page 관측을 잇는 state model</a:t>
            </a:r>
          </a:p>
          <a:p>
            <a:pPr>
              <a:spcAft>
                <a:spcPts val="1200"/>
              </a:spcAft>
              <a:defRPr sz="1900">
                <a:solidFill>
                  <a:srgbClr val="F7F9FC"/>
                </a:solidFill>
                <a:latin typeface="Noto Sans CJK KR"/>
              </a:defRPr>
            </a:pPr>
            <a:r>
              <a:t>• online normalization + bounded/fair trigger</a:t>
            </a:r>
          </a:p>
          <a:p>
            <a:pPr>
              <a:spcAft>
                <a:spcPts val="1200"/>
              </a:spcAft>
              <a:defRPr sz="1900">
                <a:solidFill>
                  <a:srgbClr val="F7F9FC"/>
                </a:solidFill>
                <a:latin typeface="Noto Sans CJK KR"/>
              </a:defRPr>
            </a:pPr>
            <a:r>
              <a:t>• seeded simulation과 검증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258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5B60"/>
                </a:solidFill>
                <a:latin typeface="Noto Sans CJK KR"/>
              </a:rPr>
              <a:t>HMS가 아직 증명하지 않은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7F9FC"/>
                </a:solidFill>
                <a:latin typeface="Noto Sans CJK KR"/>
              </a:defRPr>
            </a:pPr>
            <a:r>
              <a:t>• 상용 Android 구현 및 성능</a:t>
            </a:r>
          </a:p>
          <a:p>
            <a:pPr>
              <a:spcAft>
                <a:spcPts val="1200"/>
              </a:spcAft>
              <a:defRPr sz="1900">
                <a:solidFill>
                  <a:srgbClr val="F7F9FC"/>
                </a:solidFill>
                <a:latin typeface="Noto Sans CJK KR"/>
              </a:defRPr>
            </a:pPr>
            <a:r>
              <a:t>• 생산 overhead / compatibility / energy</a:t>
            </a:r>
          </a:p>
          <a:p>
            <a:pPr>
              <a:spcAft>
                <a:spcPts val="1200"/>
              </a:spcAft>
              <a:defRPr sz="1900">
                <a:solidFill>
                  <a:srgbClr val="F7F9FC"/>
                </a:solidFill>
                <a:latin typeface="Noto Sans CJK KR"/>
              </a:defRPr>
            </a:pPr>
            <a:r>
              <a:t>• 기존 proactive reclaim 대비 우월성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00600"/>
            <a:ext cx="10698480" cy="868680"/>
          </a:xfrm>
          <a:prstGeom prst="roundRect">
            <a:avLst/>
          </a:prstGeom>
          <a:solidFill>
            <a:srgbClr val="1A2B43"/>
          </a:solidFill>
          <a:ln w="12700">
            <a:solidFill>
              <a:srgbClr val="1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47488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7F9FC"/>
                </a:solidFill>
                <a:latin typeface="Noto Sans CJK KR"/>
              </a:rPr>
              <a:t>다음 단계: auditable implementation + raw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9893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8CC"/>
                </a:solidFill>
                <a:latin typeface="Noto Sans CJK KR"/>
              </a:rPr>
              <a:t>감사합니다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